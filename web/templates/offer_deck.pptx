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50.xml" ContentType="application/vnd.openxmlformats-officedocument.presentationml.slide+xml"/>
  <Override PartName="/ppt/slides/slide49.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charts/colors3.xml" ContentType="application/vnd.ms-office.chartcolorstyle+xml"/>
  <Override PartName="/ppt/charts/style3.xml" ContentType="application/vnd.ms-office.chartstyl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98" r:id="rIdO2"/>
    <p:sldId id="1549" r:id="rId17"/>
    <p:sldId id="1548" r:id="rId18"/>
    <p:sldId id="1577" r:id="rId19"/>
    <p:sldId id="1597" r:id="rIdO1"/>
    <p:sldId id="1514" r:id="rId20"/>
    <p:sldId id="1517" r:id="rId21"/>
    <p:sldId id="1513" r:id="rId22"/>
    <p:sldId id="1599" r:id="rIdO3"/>
    <p:sldId id="1515" r:id="rId23"/>
    <p:sldId id="1518" r:id="rId24"/>
    <p:sldId id="1581" r:id="rId25"/>
    <p:sldId id="1580" r:id="rId26"/>
    <p:sldId id="1600" r:id="rIdO4"/>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50.xml"/><Relationship Id="rIdO2" Type="http://schemas.openxmlformats.org/officeDocument/2006/relationships/slide" Target="slides/slide49.xml"/><Relationship Id="rIdO3" Type="http://schemas.openxmlformats.org/officeDocument/2006/relationships/slide" Target="slides/slide47.xml"/><Relationship Id="rIdO4"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 Id="rIdO1" Type="http://schemas.openxmlformats.org/officeDocument/2006/relationships/image" Target="../media/slot_client_logo.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 Id="rIdO2" Type="http://schemas.openxmlformats.org/officeDocument/2006/relationships/image" Target="../media/slot_structure2.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comp1.png"/><Relationship Id="rIdO2" Type="http://schemas.openxmlformats.org/officeDocument/2006/relationships/image" Target="../media/slot_comp2.png"/><Relationship Id="rIdO3" Type="http://schemas.openxmlformats.org/officeDocument/2006/relationships/image" Target="../media/slot_comp3.png"/><Relationship Id="rIdO4" Type="http://schemas.openxmlformats.org/officeDocument/2006/relationships/image" Target="../media/slot_comp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Client: {{Name}}</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1" name="Image client_logo" descr="img:client_logo"/>
          <p:cNvPicPr>
            <a:picLocks noChangeAspect="1"/>
          </p:cNvPicPr>
          <p:nvPr/>
        </p:nvPicPr>
        <p:blipFill>
          <a:blip r:embed="rIdO1"/>
          <a:stretch>
            <a:fillRect/>
          </a:stretch>
        </p:blipFill>
        <p:spPr>
          <a:xfrm>
            <a:off x="3474720" y="868680"/>
            <a:ext cx="2194560" cy="960120"/>
          </a:xfrm>
          <a:prstGeom prst="rect">
            <a:avLst/>
          </a:prstGeom>
        </p:spPr>
      </p:pic>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a:t>
                      </a:r>
                    </a:p>
                  </a:txBody>
                  <a:tcPr marL="68580" marR="68580" marT="0" marB="0" anchor="ctr"/>
                </a:tc>
                <a:extLst>
                  <a:ext uri="{0D108BD9-81ED-4DB2-BD59-A6C34878D82A}">
                    <a16:rowId xmlns:a16="http://schemas.microsoft.com/office/drawing/2014/main" val="703114075"/>
                  </a:ext>
                </a:extLst>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{{ShadeP1}}</a:t>
            </a:r>
          </a:p>
          <a:p>
            <a:endParaRPr lang="en-US" sz="1200" dirty="0"/>
          </a:p>
          <a:p>
            <a:r>
              <a:rPr lang="en-US" sz="1200" dirty="0"/>
              <a:t>{{ShadeP2}}</a:t>
            </a:r>
          </a:p>
          <a:p>
            <a:endParaRPr lang="en-US" sz="1200" dirty="0"/>
          </a:p>
          <a:p>
            <a:r>
              <a:rPr lang="en-US" sz="1200" dirty="0"/>
              <a:t>{{ShadeP3}}</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pic>
        <p:nvPicPr>
          <p:cNvPr id="2" name="Picture 1" descr="logo:shadow">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93" name="Image structure" descr="img:structure"/>
          <p:cNvPicPr>
            <a:picLocks noChangeAspect="1"/>
          </p:cNvPicPr>
          <p:nvPr/>
        </p:nvPicPr>
        <p:blipFill>
          <a:blip r:embed="rIdO1"/>
          <a:stretch>
            <a:fillRect/>
          </a:stretch>
        </p:blipFill>
        <p:spPr>
          <a:xfrm>
            <a:off x="411480" y="914400"/>
            <a:ext cx="4023360" cy="3017520"/>
          </a:xfrm>
          <a:prstGeom prst="rect">
            <a:avLst/>
          </a:prstGeom>
        </p:spPr>
      </p:pic>
      <p:pic>
        <p:nvPicPr>
          <p:cNvPr id="94" name="Image structure2" descr="img:structure2"/>
          <p:cNvPicPr>
            <a:picLocks noChangeAspect="1"/>
          </p:cNvPicPr>
          <p:nvPr/>
        </p:nvPicPr>
        <p:blipFill>
          <a:blip r:embed="rIdO2"/>
          <a:stretch>
            <a:fillRect/>
          </a:stretch>
        </p:blipFill>
        <p:spPr>
          <a:xfrm>
            <a:off x="4709160" y="914400"/>
            <a:ext cx="4023360" cy="3017520"/>
          </a:xfrm>
          <a:prstGeom prst="rect">
            <a:avLst/>
          </a:prstGeom>
        </p:spPr>
      </p:pic>
      <p:pic>
        <p:nvPicPr>
          <p:cNvPr id="11" name="Picture 10" descr="logo:structure">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 name="Picture 1" descr="logo:structure2">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{{InverterMix}} </a:t>
            </a:r>
            <a:r>
              <a:rPr lang="en-US" sz="1200" dirty="0"/>
              <a:t>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offer:needs:subsystems">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System Breakdown</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457200" y="860012"/>
          <a:ext cx="7955280" cy="1154062"/>
        </p:xfrm>
        <a:graphic>
          <a:graphicData uri="http://schemas.openxmlformats.org/drawingml/2006/table">
            <a:tbl>
              <a:tblPr firstRow="1" bandRow="1">
                <a:tableStyleId>{EB344D84-9AFB-497E-A393-DC336BA19D2E}</a:tableStyleId>
              </a:tblPr>
              <a:tblGrid>
                <a:gridCol w="1143000"/>
                <a:gridCol w="1463040"/>
                <a:gridCol w="1143000"/>
                <a:gridCol w="685800"/>
                <a:gridCol w="731520"/>
                <a:gridCol w="1508760"/>
                <a:gridCol w="685800"/>
                <a:gridCol w="594360"/>
              </a:tblGrid>
              <a:tr h="318192">
                <a:tc>
                  <a:txBody>
                    <a:bodyPr/>
                    <a:lstStyle/>
                    <a:p>
                      <a:pPr algn="ctr" fontAlgn="t">
                        <a:spcBef>
                          <a:spcPts val="0"/>
                        </a:spcBef>
                        <a:spcAft>
                          <a:spcPts val="0"/>
                        </a:spcAft>
                      </a:pPr>
                      <a:r>
                        <a:rPr lang="en-US" sz="1100" b="1" u="none" strike="noStrike" dirty="0">
                          <a:solidFill>
                            <a:schemeClr val="bg1"/>
                          </a:solidFill>
                          <a:effectLst/>
                        </a:rPr>
                        <a:t>Sub-system</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Installation</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PV module</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Panels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 (kWp)</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Inverters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AC (kW)</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DC/AC</a:t>
                      </a:r>
                    </a:p>
                  </a:txBody>
                  <a:tcPr marL="64816" marR="64816" marT="32408" marB="32408"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{{SS_Name}}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{{SS_Mounting}}</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{{SS_Ratio}}</a:t>
                      </a:r>
                    </a:p>
                  </a:txBody>
                  <a:tcPr marL="68580" marR="68580" marT="0" marB="0"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{{SS_TotRatio}}</a:t>
                      </a:r>
                    </a:p>
                  </a:txBody>
                  <a:tcPr marL="68580" marR="68580" marT="0" marB="0" anchor="ctr"/>
                </a:tc>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50.xml><?xml version="1.0" encoding="utf-8"?>
<p:sld xmlns:a="http://schemas.openxmlformats.org/drawingml/2006/main" xmlns:r="http://schemas.openxmlformats.org/officeDocument/2006/relationships" xmlns:p="http://schemas.openxmlformats.org/presentationml/2006/main">
  <p:cSld name="offer:needs:componen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Selected Components for the Proposed System</a:t>
            </a:r>
          </a:p>
        </p:txBody>
      </p:sp>
      <p:pic>
        <p:nvPicPr>
          <p:cNvPr id="8" name="Image comp1" descr="img:comp1"/>
          <p:cNvPicPr>
            <a:picLocks noChangeAspect="1"/>
          </p:cNvPicPr>
          <p:nvPr/>
        </p:nvPicPr>
        <p:blipFill>
          <a:blip r:embed="rIdO1"/>
          <a:stretch>
            <a:fillRect/>
          </a:stretch>
        </p:blipFill>
        <p:spPr>
          <a:xfrm>
            <a:off x="594360" y="1143000"/>
            <a:ext cx="1783080" cy="2423160"/>
          </a:xfrm>
          <a:prstGeom prst="rect">
            <a:avLst/>
          </a:prstGeom>
        </p:spPr>
      </p:pic>
      <p:sp>
        <p:nvSpPr>
          <p:cNvPr id="9" name="Component caption 1"/>
          <p:cNvSpPr txBox="1"/>
          <p:nvPr/>
        </p:nvSpPr>
        <p:spPr>
          <a:xfrm>
            <a:off x="502920" y="3657600"/>
            <a:ext cx="1965960" cy="777240"/>
          </a:xfrm>
          <a:prstGeom prst="rect">
            <a:avLst/>
          </a:prstGeom>
          <a:noFill/>
        </p:spPr>
        <p:txBody>
          <a:bodyPr wrap="square" rtlCol="0" anchor="t">
            <a:normAutofit/>
          </a:bodyPr>
          <a:lstStyle/>
          <a:p>
            <a:pPr algn="ctr"/>
            <a:r>
              <a:rPr lang="en-US" sz="1100" b="1" dirty="0">
                <a:solidFill>
                  <a:srgbClr val="404040"/>
                </a:solidFill>
              </a:rPr>
              <a:t>{{Comp1Name}}</a:t>
            </a:r>
          </a:p>
          <a:p>
            <a:pPr algn="ctr"/>
            <a:r>
              <a:rPr lang="en-US" sz="1000" b="0" dirty="0">
                <a:solidFill>
                  <a:srgbClr val="2E7D32"/>
                </a:solidFill>
              </a:rPr>
              <a:t>{{Comp1Role}}</a:t>
            </a:r>
          </a:p>
        </p:txBody>
      </p:sp>
      <p:pic>
        <p:nvPicPr>
          <p:cNvPr id="10" name="Image comp2" descr="img:comp2"/>
          <p:cNvPicPr>
            <a:picLocks noChangeAspect="1"/>
          </p:cNvPicPr>
          <p:nvPr/>
        </p:nvPicPr>
        <p:blipFill>
          <a:blip r:embed="rIdO2"/>
          <a:stretch>
            <a:fillRect/>
          </a:stretch>
        </p:blipFill>
        <p:spPr>
          <a:xfrm>
            <a:off x="2651760" y="1143000"/>
            <a:ext cx="1783080" cy="2423160"/>
          </a:xfrm>
          <a:prstGeom prst="rect">
            <a:avLst/>
          </a:prstGeom>
        </p:spPr>
      </p:pic>
      <p:sp>
        <p:nvSpPr>
          <p:cNvPr id="11" name="Component caption 2"/>
          <p:cNvSpPr txBox="1"/>
          <p:nvPr/>
        </p:nvSpPr>
        <p:spPr>
          <a:xfrm>
            <a:off x="2560320" y="3657600"/>
            <a:ext cx="1965960" cy="777240"/>
          </a:xfrm>
          <a:prstGeom prst="rect">
            <a:avLst/>
          </a:prstGeom>
          <a:noFill/>
        </p:spPr>
        <p:txBody>
          <a:bodyPr wrap="square" rtlCol="0" anchor="t">
            <a:normAutofit/>
          </a:bodyPr>
          <a:lstStyle/>
          <a:p>
            <a:pPr algn="ctr"/>
            <a:r>
              <a:rPr lang="en-US" sz="1100" b="1" dirty="0">
                <a:solidFill>
                  <a:srgbClr val="404040"/>
                </a:solidFill>
              </a:rPr>
              <a:t>{{Comp2Name}}</a:t>
            </a:r>
          </a:p>
          <a:p>
            <a:pPr algn="ctr"/>
            <a:r>
              <a:rPr lang="en-US" sz="1000" b="0" dirty="0">
                <a:solidFill>
                  <a:srgbClr val="2E7D32"/>
                </a:solidFill>
              </a:rPr>
              <a:t>{{Comp2Role}}</a:t>
            </a:r>
          </a:p>
        </p:txBody>
      </p:sp>
      <p:pic>
        <p:nvPicPr>
          <p:cNvPr id="12" name="Image comp3" descr="img:comp3"/>
          <p:cNvPicPr>
            <a:picLocks noChangeAspect="1"/>
          </p:cNvPicPr>
          <p:nvPr/>
        </p:nvPicPr>
        <p:blipFill>
          <a:blip r:embed="rIdO3"/>
          <a:stretch>
            <a:fillRect/>
          </a:stretch>
        </p:blipFill>
        <p:spPr>
          <a:xfrm>
            <a:off x="4709160" y="1143000"/>
            <a:ext cx="1783080" cy="2423160"/>
          </a:xfrm>
          <a:prstGeom prst="rect">
            <a:avLst/>
          </a:prstGeom>
        </p:spPr>
      </p:pic>
      <p:sp>
        <p:nvSpPr>
          <p:cNvPr id="13" name="Component caption 3"/>
          <p:cNvSpPr txBox="1"/>
          <p:nvPr/>
        </p:nvSpPr>
        <p:spPr>
          <a:xfrm>
            <a:off x="4617720" y="3657600"/>
            <a:ext cx="1965960" cy="777240"/>
          </a:xfrm>
          <a:prstGeom prst="rect">
            <a:avLst/>
          </a:prstGeom>
          <a:noFill/>
        </p:spPr>
        <p:txBody>
          <a:bodyPr wrap="square" rtlCol="0" anchor="t">
            <a:normAutofit/>
          </a:bodyPr>
          <a:lstStyle/>
          <a:p>
            <a:pPr algn="ctr"/>
            <a:r>
              <a:rPr lang="en-US" sz="1100" b="1" dirty="0">
                <a:solidFill>
                  <a:srgbClr val="404040"/>
                </a:solidFill>
              </a:rPr>
              <a:t>{{Comp3Name}}</a:t>
            </a:r>
          </a:p>
          <a:p>
            <a:pPr algn="ctr"/>
            <a:r>
              <a:rPr lang="en-US" sz="1000" b="0" dirty="0">
                <a:solidFill>
                  <a:srgbClr val="2E7D32"/>
                </a:solidFill>
              </a:rPr>
              <a:t>{{Comp3Role}}</a:t>
            </a:r>
          </a:p>
        </p:txBody>
      </p:sp>
      <p:pic>
        <p:nvPicPr>
          <p:cNvPr id="14" name="Image comp4" descr="img:comp4"/>
          <p:cNvPicPr>
            <a:picLocks noChangeAspect="1"/>
          </p:cNvPicPr>
          <p:nvPr/>
        </p:nvPicPr>
        <p:blipFill>
          <a:blip r:embed="rIdO4"/>
          <a:stretch>
            <a:fillRect/>
          </a:stretch>
        </p:blipFill>
        <p:spPr>
          <a:xfrm>
            <a:off x="6766560" y="1143000"/>
            <a:ext cx="1783080" cy="2423160"/>
          </a:xfrm>
          <a:prstGeom prst="rect">
            <a:avLst/>
          </a:prstGeom>
        </p:spPr>
      </p:pic>
      <p:sp>
        <p:nvSpPr>
          <p:cNvPr id="15" name="Component caption 4"/>
          <p:cNvSpPr txBox="1"/>
          <p:nvPr/>
        </p:nvSpPr>
        <p:spPr>
          <a:xfrm>
            <a:off x="6675120" y="3657600"/>
            <a:ext cx="1965960" cy="777240"/>
          </a:xfrm>
          <a:prstGeom prst="rect">
            <a:avLst/>
          </a:prstGeom>
          <a:noFill/>
        </p:spPr>
        <p:txBody>
          <a:bodyPr wrap="square" rtlCol="0" anchor="t">
            <a:normAutofit/>
          </a:bodyPr>
          <a:lstStyle/>
          <a:p>
            <a:pPr algn="ctr"/>
            <a:r>
              <a:rPr lang="en-US" sz="1100" b="1" dirty="0">
                <a:solidFill>
                  <a:srgbClr val="404040"/>
                </a:solidFill>
              </a:rPr>
              <a:t>{{Comp4Name}}</a:t>
            </a:r>
          </a:p>
          <a:p>
            <a:pPr algn="ctr"/>
            <a:r>
              <a:rPr lang="en-US" sz="1000" b="0" dirty="0">
                <a:solidFill>
                  <a:srgbClr val="2E7D32"/>
                </a:solidFill>
              </a:rPr>
              <a:t>{{Comp4Role}}</a:t>
            </a:r>
          </a:p>
        </p:txBody>
      </p:sp>
    </p:spTree>
    <p:extLst>
      <p:ext uri="{BB962C8B-B14F-4D97-AF65-F5344CB8AC3E}">
        <p14:creationId xmlns:p14="http://schemas.microsoft.com/office/powerpoint/2010/main" val="3239351255"/>
      </p:ext>
    </p:extLst>
  </p:cSld>
  <p:clrMapOvr>
    <a:masterClrMapping/>
  </p:clrMapOvr>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